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2194560"/>
            <a:ext cx="5943600" cy="5943600"/>
          </a:xfrm>
          <a:prstGeom prst="ellipse">
            <a:avLst/>
          </a:prstGeom>
          <a:solidFill>
            <a:srgbClr val="0E7C7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3291840"/>
            <a:ext cx="4206240" cy="4206240"/>
          </a:xfrm>
          <a:prstGeom prst="ellipse">
            <a:avLst/>
          </a:prstGeom>
          <a:solidFill>
            <a:srgbClr val="C0392B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FD3D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方法讲义 · METHODOLOGY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登革热风险预测模型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分析方法详解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6E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巴西 SINAN 2023–2025 · 逻辑回归 · 从原始通报到可解释模型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4617720"/>
            <a:ext cx="292608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00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面向教学 · 覆盖数据、特征工程、类别不平衡处理与建模评估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OVERVIEW / 总览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整体分析流程:五个阶段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登革热风险模型 · 方法讲义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2121408" cy="2468880"/>
          </a:xfrm>
          <a:prstGeom prst="roundRect">
            <a:avLst>
              <a:gd name="adj" fmla="val 4310"/>
            </a:avLst>
          </a:prstGeom>
          <a:solidFill>
            <a:srgbClr val="EAF2F1"/>
          </a:solidFill>
          <a:ln w="12700">
            <a:solidFill>
              <a:srgbClr val="EAF2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16736" y="2651760"/>
            <a:ext cx="768096" cy="76809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1316736" y="265176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原始数据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913632"/>
            <a:ext cx="1901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SINAN 三年通报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每年约160万条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329184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7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926080" y="2377440"/>
            <a:ext cx="2121408" cy="2468880"/>
          </a:xfrm>
          <a:prstGeom prst="roundRect">
            <a:avLst>
              <a:gd name="adj" fmla="val 4310"/>
            </a:avLst>
          </a:prstGeom>
          <a:solidFill>
            <a:srgbClr val="EAF2F1"/>
          </a:solidFill>
          <a:ln w="12700">
            <a:solidFill>
              <a:srgbClr val="EAF2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02736" y="2651760"/>
            <a:ext cx="768096" cy="76809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3602736" y="265176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926080" y="352044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特征工程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35808" y="3913632"/>
            <a:ext cx="1901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症状/合并症编码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年龄·病程·季节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29184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7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212080" y="2377440"/>
            <a:ext cx="2121408" cy="2468880"/>
          </a:xfrm>
          <a:prstGeom prst="roundRect">
            <a:avLst>
              <a:gd name="adj" fmla="val 4310"/>
            </a:avLst>
          </a:prstGeom>
          <a:solidFill>
            <a:srgbClr val="EAF2F1"/>
          </a:solidFill>
          <a:ln w="12700">
            <a:solidFill>
              <a:srgbClr val="EAF2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88736" y="2651760"/>
            <a:ext cx="768096" cy="76809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5888736" y="265176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212080" y="352044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定义结局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21808" y="3913632"/>
            <a:ext cx="1901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CLASSI_FIN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三个预测问题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0" y="329184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7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498080" y="2377440"/>
            <a:ext cx="2121408" cy="2468880"/>
          </a:xfrm>
          <a:prstGeom prst="roundRect">
            <a:avLst>
              <a:gd name="adj" fmla="val 4310"/>
            </a:avLst>
          </a:prstGeom>
          <a:solidFill>
            <a:srgbClr val="F6E7E4"/>
          </a:solidFill>
          <a:ln w="12700">
            <a:solidFill>
              <a:srgbClr val="F6E7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74736" y="2651760"/>
            <a:ext cx="768096" cy="7680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8174736" y="265176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498080" y="352044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处理不平衡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07808" y="3913632"/>
            <a:ext cx="1901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下采样 +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类别平衡权重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0" y="329184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784080" y="2377440"/>
            <a:ext cx="2121408" cy="2468880"/>
          </a:xfrm>
          <a:prstGeom prst="roundRect">
            <a:avLst>
              <a:gd name="adj" fmla="val 4310"/>
            </a:avLst>
          </a:prstGeom>
          <a:solidFill>
            <a:srgbClr val="EAF2F1"/>
          </a:solidFill>
          <a:ln w="12700">
            <a:solidFill>
              <a:srgbClr val="EAF2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460736" y="2651760"/>
            <a:ext cx="768096" cy="76809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2" name="Text 30"/>
          <p:cNvSpPr/>
          <p:nvPr/>
        </p:nvSpPr>
        <p:spPr>
          <a:xfrm>
            <a:off x="10460736" y="265176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9784080" y="352044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建模与评估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893808" y="3913632"/>
            <a:ext cx="1901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逻辑回归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AUC/敏感度/特异度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本讲义聚焦“方法”——每一步为什么这么做,而不是结果数字。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1 / 数据来源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数据:巴西 SINAN 登革热通报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登革热风险模型 · 方法讲义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SINAN 是巴西国家法定传染病通报系统。每一条记录是一个疑似或确诊的登革热病例,包含症状、合并症、人口学信息与最终分类。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256032" cy="25603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65176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三个年度文件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2023 / 2024 / 2025,每年约 160 万条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3474720"/>
            <a:ext cx="256032" cy="25603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33756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原始 121 列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仅抽取建模所需约 27 列,提高读取与内存效率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4160520"/>
            <a:ext cx="256032" cy="25603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02336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清洗后规模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 470 万条有效记录进入建模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4846320"/>
            <a:ext cx="256032" cy="25603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70916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2024 为暴发年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巴西大流行,确诊数暴涨、类别分布改变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72400" y="1645920"/>
            <a:ext cx="3749040" cy="4114800"/>
          </a:xfrm>
          <a:prstGeom prst="roundRect">
            <a:avLst>
              <a:gd name="adj" fmla="val 2439"/>
            </a:avLst>
          </a:prstGeom>
          <a:solidFill>
            <a:srgbClr val="0B4F58"/>
          </a:solidFill>
          <a:ln w="12700">
            <a:solidFill>
              <a:srgbClr val="0B4F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1965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D3D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清洗后样本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955280" y="22860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≈ 470万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7955280" y="3337560"/>
            <a:ext cx="3291840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352044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1600" dirty="0">
                <a:solidFill>
                  <a:srgbClr val="CFE6E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确诊登革热  </a:t>
            </a:r>
            <a:pPr indent="0" marL="0">
              <a:lnSpc>
                <a:spcPts val="3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413 万</a:t>
            </a:r>
            <a:pPr indent="0" marL="0">
              <a:lnSpc>
                <a:spcPts val="3400"/>
              </a:lnSpc>
              <a:buNone/>
            </a:pPr>
            <a:endParaRPr lang="en-US" sz="16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600" dirty="0">
                <a:solidFill>
                  <a:srgbClr val="CFE6E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覆盖年份  </a:t>
            </a:r>
            <a:endParaRPr lang="en-US" sz="16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2023–2025</a:t>
            </a:r>
            <a:pPr indent="0" marL="0">
              <a:lnSpc>
                <a:spcPts val="3400"/>
              </a:lnSpc>
              <a:buNone/>
            </a:pPr>
            <a:endParaRPr lang="en-US" sz="16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600" dirty="0">
                <a:solidFill>
                  <a:srgbClr val="CFE6E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建模特征  </a:t>
            </a:r>
            <a:endParaRPr lang="en-US" sz="16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 个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3 / 预测什么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三个分析目标:拆成互补的问题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登革热风险模型 · 方法讲义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727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临床上是两个不同决策:先判断“是不是登革热”,再判断“会不会升级监护”。分开建模,系数也更好解释。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EAF2F1"/>
          </a:solidFill>
          <a:ln w="12700">
            <a:solidFill>
              <a:srgbClr val="EAF2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331720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715768"/>
            <a:ext cx="3566160" cy="3931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4144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 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是不是登革热?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68680" y="37490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正类 = 确诊(10/11/12)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负类 = 不确定(8)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50292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i="1" dirty="0">
                <a:solidFill>
                  <a:srgbClr val="0E7C7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⚠ 数据里没有真正的“非登革热”对照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80560" y="2331720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EAF2F1"/>
          </a:solidFill>
          <a:ln w="12700">
            <a:solidFill>
              <a:srgbClr val="EAF2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2331720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2715768"/>
            <a:ext cx="3566160" cy="3931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44144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 B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0916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会不会加重?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709160" y="37490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在已确诊病例中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正类 = 警示+重症(11/12)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负类 = 普通(10)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09160" y="50292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i="1" dirty="0">
                <a:solidFill>
                  <a:srgbClr val="0E7C7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筛出需要密切观察的人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321040" y="2331720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F6E7E4"/>
          </a:solidFill>
          <a:ln w="12700">
            <a:solidFill>
              <a:srgbClr val="F6E7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2331720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21040" y="2715768"/>
            <a:ext cx="3566160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9640" y="244144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 B2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54964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会不会到最重症?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8549640" y="37490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正类 = 重症(12)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负类 = 其余(10/11)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549640" y="50292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i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最关键、也最难(样本最少)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2 / 特征工程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特征工程(一):把通报表翻译成数字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登革热风险模型 · 方法讲义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模型只能吃数字。这一步把原始的编码字段转成 0/1 与数值特征。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EAF2F1"/>
          </a:solidFill>
          <a:ln w="12700">
            <a:solidFill>
              <a:srgbClr val="EAF2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774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 个症状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发热 · 肌痛 · 头痛 · 皮疹 · 呕吐 · 恶心 · 背痛 · 结膜炎 · 关节炎 · 关节痛 · 瘀点 · 白细胞减少 · 束臂试验 · 眼后痛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452628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编码规则: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SINAN 用 1=有、2=无、9=未知。统一转成二值 _x:等于“1”记 1,否则记 0。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194560"/>
            <a:ext cx="5303520" cy="3566160"/>
          </a:xfrm>
          <a:prstGeom prst="roundRect">
            <a:avLst>
              <a:gd name="adj" fmla="val 2564"/>
            </a:avLst>
          </a:prstGeom>
          <a:solidFill>
            <a:srgbClr val="F6E7E4"/>
          </a:solidFill>
          <a:ln w="12700">
            <a:solidFill>
              <a:srgbClr val="F6E7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3774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 个合并症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28346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糖尿病 · 血液病 · 肝病 · 肾病 · 高血压 · 消化性溃疡 · 自身免疫病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46520" y="416052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为什么重要: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合并症是“会不会重症”的核心信号——模型 B/B2 里肾病、血液病、糖尿病等系数都很靠前。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2 / 特征工程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特征工程(二):三个容易踩的“坑”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登革热风险模型 · 方法讲义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2F1"/>
          </a:solidFill>
          <a:ln w="12700">
            <a:solidFill>
              <a:srgbClr val="EAF2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395728"/>
            <a:ext cx="658368" cy="65836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957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28800" y="2267712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年龄编码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63440" y="2249424"/>
            <a:ext cx="6675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NU_IDADE_N 是编码,不是岁数。开头 4 表示“岁”(4031 = 31 岁);小于 4000 是小时/天/月(未满 1 岁),统一记 0 岁。保留 0–110 岁。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6E7E4"/>
          </a:solidFill>
          <a:ln w="12700">
            <a:solidFill>
              <a:srgbClr val="F6E7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767328"/>
            <a:ext cx="658368" cy="6583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7673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828800" y="3639312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病程天数 day_ill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63440" y="3621024"/>
            <a:ext cx="6675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通报日期 − 症状开始日期,只留 0–14 天。⚠ 曾误按“日/月/年”解析导致全部失败、样本清零;实际是 ISO “年-月-日”。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2F1"/>
          </a:solidFill>
          <a:ln w="12700">
            <a:solidFill>
              <a:srgbClr val="EAF2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138928"/>
            <a:ext cx="658368" cy="65836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1389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828800" y="5010912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季节 sin / cos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663440" y="4992624"/>
            <a:ext cx="6675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流行病学周(1–52)做周期编码。用一对正弦余弦,让第 52 周与第 1 周在特征空间里也相邻,而不是数值差 51。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3 / 定义结局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结局变量:CLASSI_FIN 最终分类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登革热风险模型 · 方法讲义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严重程度阶梯:10 &lt; 11 &lt; 12。三个模型都是围绕这几个编码切出来的。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EDEFEF"/>
          </a:solidFill>
          <a:ln w="12700">
            <a:solidFill>
              <a:srgbClr val="EDEF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40864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965960" y="2450592"/>
            <a:ext cx="0" cy="512064"/>
          </a:xfrm>
          <a:prstGeom prst="line">
            <a:avLst/>
          </a:prstGeom>
          <a:noFill/>
          <a:ln w="25400">
            <a:solidFill>
              <a:srgbClr val="5E70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233172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不确定 / 排除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2331720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既非确诊也非严重,作为模型 A 的负类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2186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EAF2F1"/>
          </a:solidFill>
          <a:ln w="12700">
            <a:solidFill>
              <a:srgbClr val="EAF2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273552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1965960" y="3383280"/>
            <a:ext cx="0" cy="512064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326440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登革热(普通)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3264408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确诊、无警示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15137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6E7E4"/>
          </a:solidFill>
          <a:ln w="12700">
            <a:solidFill>
              <a:srgbClr val="F6E7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0624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1965960" y="4315968"/>
            <a:ext cx="0" cy="512064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40280" y="4197096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登革热 + 警示症状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4197096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需要密切观察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5084064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6E7E4"/>
          </a:solidFill>
          <a:ln w="12700">
            <a:solidFill>
              <a:srgbClr val="F6E7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138928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1965960" y="5248656"/>
            <a:ext cx="0" cy="512064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40280" y="5129784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重症登革热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09360" y="5129784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最严重,样本最少(占确诊约 0.16%)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4F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D3D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4 / 类别不平衡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先看一个陷阱:重症太稀少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登革热风险模型 · 方法讲义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0.16%</a:t>
            </a:r>
            <a:endParaRPr lang="en-US" sz="7600" dirty="0"/>
          </a:p>
        </p:txBody>
      </p:sp>
      <p:sp>
        <p:nvSpPr>
          <p:cNvPr id="7" name="Text 5"/>
          <p:cNvSpPr/>
          <p:nvPr/>
        </p:nvSpPr>
        <p:spPr>
          <a:xfrm>
            <a:off x="685800" y="32918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FE6E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确诊病例中,重症(12)只占约 0.16%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FE6E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(6,569 / 413万)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2160" y="1874520"/>
            <a:ext cx="5669280" cy="3703320"/>
          </a:xfrm>
          <a:prstGeom prst="roundRect">
            <a:avLst>
              <a:gd name="adj" fmla="val 2469"/>
            </a:avLst>
          </a:prstGeom>
          <a:solidFill>
            <a:srgbClr val="0E5E67"/>
          </a:solidFill>
          <a:ln w="12700">
            <a:solidFill>
              <a:srgbClr val="0E5E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2103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如果直接用原始数据训练……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26480" y="26060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FE6E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模型只要 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D9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永远预测“不是重症”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FE6E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,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FE6E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准确率就有 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99.8%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FE6E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26480" y="36118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CFE6E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数字很漂亮,却一个重症都抓不到——因为忽略这几千人几乎不影响总正确率,模型没有动力去学“谁会重症”。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126480" y="49834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9D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需要两个对策:下采样 + 类别平衡权重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4 / 处理不平衡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对策一:下采样(Undersampling)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登革热风险模型 · 方法讲义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把数量占绝对多数的那一类随机抽掉一部分,让两类不再悬殊。少数类一个都不丢。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5303520" cy="3291840"/>
          </a:xfrm>
          <a:prstGeom prst="roundRect">
            <a:avLst>
              <a:gd name="adj" fmla="val 2778"/>
            </a:avLst>
          </a:prstGeom>
          <a:solidFill>
            <a:srgbClr val="EAF2F1"/>
          </a:solidFill>
          <a:ln w="12700">
            <a:solidFill>
              <a:srgbClr val="EAF2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468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下采样前(以模型 B2 为例)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68680" y="3063240"/>
            <a:ext cx="4846320" cy="5029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0815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非重症  ≈ 400 万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3703320"/>
            <a:ext cx="109728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72160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重症  6,569(细到几乎看不见)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846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比例悬殊 ≈ 600 : 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5303520" cy="3291840"/>
          </a:xfrm>
          <a:prstGeom prst="roundRect">
            <a:avLst>
              <a:gd name="adj" fmla="val 2778"/>
            </a:avLst>
          </a:prstGeom>
          <a:solidFill>
            <a:srgbClr val="F6E7E4"/>
          </a:solidFill>
          <a:ln w="12700">
            <a:solidFill>
              <a:srgbClr val="F6E7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468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下采样后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46520" y="3063240"/>
            <a:ext cx="2377440" cy="5029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30815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非重症  抽 12 万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46520" y="3703320"/>
            <a:ext cx="50292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37216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重症  全保留 6,569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47091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两个好处: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① 让模型认真对待少数类;② 训练更快(400 万行拟合很慢)。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4 / 处理不平衡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对策二:类别平衡权重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登革热风险模型 · 方法讲义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在逻辑回归内部再加一层保险:给少数类的样本更高权重,算错一个重症的“惩罚”远大于算错一个普通病例。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0B4F58"/>
          </a:solidFill>
          <a:ln w="12700">
            <a:solidFill>
              <a:srgbClr val="0B4F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06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3D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权重公式(sklearn class_weight="balanced")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每类权重 = 总样本数 ÷ ( 类别数 × 该类样本数 )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85800" y="3867912"/>
            <a:ext cx="384048" cy="38404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867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794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直觉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类别越小 → 权重越大 → 优化时越被重视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4526280"/>
            <a:ext cx="384048" cy="38404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526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4531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效果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即使数量仍略不平衡,模型也不会为讨好多数类而牺牲少数类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5184648"/>
            <a:ext cx="384048" cy="38404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184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5111496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与下采样叠加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下采样缩小差距,权重再补偿剩余不平衡,两者互补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5 / 建模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建模流程:为什么选逻辑回归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登革热风险模型 · 方法讲义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EAF2F1"/>
          </a:solidFill>
          <a:ln w="12700">
            <a:solidFill>
              <a:srgbClr val="EAF2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322576"/>
            <a:ext cx="493776" cy="49377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2257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219456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70 / 30 分层拆分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937760" y="2194560"/>
            <a:ext cx="6400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按结局分层切训练集与测试集,保证正负比例一致,评估才公平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8152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EAF2F1"/>
          </a:solidFill>
          <a:ln w="12700">
            <a:solidFill>
              <a:srgbClr val="EAF2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255264"/>
            <a:ext cx="493776" cy="49377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25526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91640" y="3127248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逻辑回归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937760" y="3127248"/>
            <a:ext cx="6400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线性、稳健、训练快,适合大样本的二分类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01421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6E7E4"/>
          </a:solidFill>
          <a:ln w="12700">
            <a:solidFill>
              <a:srgbClr val="F6E7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187952"/>
            <a:ext cx="493776" cy="49377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18795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1640" y="4059936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可解释性 ★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4937760" y="4059936"/>
            <a:ext cx="6400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每个系数 = 该特征对结局的对数几率贡献。正=更可能,负=更不可能——正是“风险计算器”想要的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946904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EAF2F1"/>
          </a:solidFill>
          <a:ln w="12700">
            <a:solidFill>
              <a:srgbClr val="EAF2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5120640"/>
            <a:ext cx="493776" cy="49377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12064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91640" y="4992624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优于黑箱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4937760" y="4992624"/>
            <a:ext cx="6400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相比复杂模型,系数能直接读成临床/教学语言,便于讲解与信任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5 / 评估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评估指标:怎么判断模型好坏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登革热风险模型 · 方法讲义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EAF2F1"/>
          </a:solidFill>
          <a:ln w="12700">
            <a:solidFill>
              <a:srgbClr val="EAF2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146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AUC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区分能力的总指标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0.5 = 瞎猜,1 = 完美。不依赖某个阈值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224028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F6E7E4"/>
          </a:solidFill>
          <a:ln w="12700">
            <a:solidFill>
              <a:srgbClr val="F6E7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5146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敏感度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09160" y="3200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检出率 Sensitivity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709160" y="36576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真正的阳性里抓到了多少 → 少漏诊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21040" y="224028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EAF2F1"/>
          </a:solidFill>
          <a:ln w="12700">
            <a:solidFill>
              <a:srgbClr val="EAF2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25146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特异度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549640" y="3200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Specificity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549640" y="36576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真正的阴性里放过了多少 → 少误报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2578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⚠ 重要提醒:因为测试集也来自“下采样后的平衡数据”,这些特异度/阳性预测值偏乐观。真实低患病率下,报警者中真阳性的比例会更低——需在保持原始比例的测试集上再评估一次。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4F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小结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237744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0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登革热风险模型 · 方法讲义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0E5E67"/>
          </a:solidFill>
          <a:ln w="12700">
            <a:solidFill>
              <a:srgbClr val="0E5E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75688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075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00200" y="192938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600200" y="229514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FE6E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SINAN 三年 ≈470 万条,抽 26 个特征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0E5E67"/>
          </a:solidFill>
          <a:ln w="12700">
            <a:solidFill>
              <a:srgbClr val="0E5E6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075688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075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223760" y="192938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特征工程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223760" y="229514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FE6E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症状/合并症 0/1、年龄解码、病程过滤、季节 sin/cos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090672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0E5E67"/>
          </a:solidFill>
          <a:ln w="12700">
            <a:solidFill>
              <a:srgbClr val="0E5E6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38328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00200" y="3236976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三个模型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600200" y="360273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FE6E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是否登革热 · B 是否加重 · B2 是否重症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3090672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0E5E67"/>
          </a:solidFill>
          <a:ln w="12700">
            <a:solidFill>
              <a:srgbClr val="0E5E6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338328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223760" y="3236976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处理不平衡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223760" y="360273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FE6E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下采样多数类 + 类别平衡权重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4398264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0E5E67"/>
          </a:solidFill>
          <a:ln w="12700">
            <a:solidFill>
              <a:srgbClr val="0E5E6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4690872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4690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600200" y="454456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建模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1600200" y="49103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FE6E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逻辑回归——系数可解释,适合风险计算器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63640" y="4398264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0E5E67"/>
          </a:solidFill>
          <a:ln w="12700">
            <a:solidFill>
              <a:srgbClr val="0E5E6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0" y="4690872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4690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223760" y="454456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记住的边界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7223760" y="49103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FE6E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无真阴性;平衡测试集使指标偏乐观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2026-07-11T21:10:46Z</dcterms:created>
  <dcterms:modified xsi:type="dcterms:W3CDTF">2026-07-11T21:10:46Z</dcterms:modified>
</cp:coreProperties>
</file>